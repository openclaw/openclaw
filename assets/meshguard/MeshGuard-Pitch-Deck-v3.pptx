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9063" y="416291"/>
            <a:ext cx="1285875" cy="1285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38" y="559166"/>
            <a:ext cx="1000125" cy="1000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44031" y="1987916"/>
            <a:ext cx="2855937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731" b="1" spc="-1" kern="0" dirty="0">
                <a:solidFill>
                  <a:srgbClr val="FFFFFF"/>
                </a:solidFill>
              </a:rPr>
              <a:t>MeshGuard</a:t>
            </a:r>
            <a:endParaRPr lang="en-US" sz="3731" dirty="0"/>
          </a:p>
        </p:txBody>
      </p:sp>
      <p:sp>
        <p:nvSpPr>
          <p:cNvPr id="6" name="Text 2"/>
          <p:cNvSpPr/>
          <p:nvPr/>
        </p:nvSpPr>
        <p:spPr>
          <a:xfrm>
            <a:off x="2185960" y="2782295"/>
            <a:ext cx="477208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94A3B8"/>
                </a:solidFill>
              </a:rPr>
              <a:t>Governance Control Plane for the Agent Mesh</a:t>
            </a:r>
            <a:endParaRPr lang="en-US" sz="1704" dirty="0"/>
          </a:p>
        </p:txBody>
      </p:sp>
      <p:sp>
        <p:nvSpPr>
          <p:cNvPr id="7" name="Text 3"/>
          <p:cNvSpPr/>
          <p:nvPr/>
        </p:nvSpPr>
        <p:spPr>
          <a:xfrm>
            <a:off x="3811470" y="4280697"/>
            <a:ext cx="15210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BD5E1"/>
                </a:solidFill>
              </a:rPr>
              <a:t>David Hurley, Founder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3811470" y="4532514"/>
            <a:ext cx="15210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4AA"/>
                </a:solidFill>
              </a:rPr>
              <a:t>meshguard.app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3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4293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0A2540"/>
                </a:solidFill>
              </a:rPr>
              <a:t>The AI landscape is evolving from assistants to autonomous agent ecosystems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10159"/>
            <a:ext cx="2476481" cy="23592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10159"/>
            <a:ext cx="857250" cy="85725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010184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2896009"/>
            <a:ext cx="661327" cy="221456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8" name="Text 4"/>
          <p:cNvSpPr/>
          <p:nvPr/>
        </p:nvSpPr>
        <p:spPr>
          <a:xfrm>
            <a:off x="571500" y="2896009"/>
            <a:ext cx="66132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2022-2023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571500" y="3231766"/>
            <a:ext cx="23336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A2540"/>
                </a:solidFill>
              </a:rPr>
              <a:t>Copilots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571500" y="3590739"/>
            <a:ext cx="23336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Human-in-the-loop AI assistance. Augmenting workflows with suggestions and completions.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3333731" y="1810159"/>
            <a:ext cx="2476509" cy="23592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333731" y="1810159"/>
            <a:ext cx="857250" cy="85725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56" y="2010184"/>
            <a:ext cx="4572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333731" y="2896009"/>
            <a:ext cx="661327" cy="221456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Text 10"/>
          <p:cNvSpPr/>
          <p:nvPr/>
        </p:nvSpPr>
        <p:spPr>
          <a:xfrm>
            <a:off x="3333731" y="2896009"/>
            <a:ext cx="66132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2024-2025</a:t>
            </a:r>
            <a:endParaRPr lang="en-US" sz="683" dirty="0"/>
          </a:p>
        </p:txBody>
      </p:sp>
      <p:sp>
        <p:nvSpPr>
          <p:cNvPr id="16" name="Text 11"/>
          <p:cNvSpPr/>
          <p:nvPr/>
        </p:nvSpPr>
        <p:spPr>
          <a:xfrm>
            <a:off x="3333731" y="3231766"/>
            <a:ext cx="2333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A2540"/>
                </a:solidFill>
              </a:rPr>
              <a:t>Agents</a:t>
            </a:r>
            <a:endParaRPr lang="en-US" sz="1397" dirty="0"/>
          </a:p>
        </p:txBody>
      </p:sp>
      <p:sp>
        <p:nvSpPr>
          <p:cNvPr id="17" name="Text 12"/>
          <p:cNvSpPr/>
          <p:nvPr/>
        </p:nvSpPr>
        <p:spPr>
          <a:xfrm>
            <a:off x="3333731" y="3590739"/>
            <a:ext cx="233363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Autonomous task execution. Systems capable of executing multi-step tasks independently.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6095991" y="1810159"/>
            <a:ext cx="2476481" cy="23592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095991" y="1810159"/>
            <a:ext cx="857250" cy="857250"/>
          </a:xfrm>
          <a:prstGeom prst="rect">
            <a:avLst/>
          </a:prstGeom>
          <a:solidFill>
            <a:srgbClr val="F0FDFA"/>
          </a:solidFill>
          <a:ln w="9144">
            <a:solidFill>
              <a:srgbClr val="00D4A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16" y="2010184"/>
            <a:ext cx="457200" cy="457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95991" y="2896009"/>
            <a:ext cx="457507" cy="221456"/>
          </a:xfrm>
          <a:prstGeom prst="roundRect">
            <a:avLst/>
          </a:prstGeom>
          <a:solidFill>
            <a:srgbClr val="CCFBF1"/>
          </a:solidFill>
          <a:ln/>
        </p:spPr>
      </p:sp>
      <p:sp>
        <p:nvSpPr>
          <p:cNvPr id="22" name="Text 16"/>
          <p:cNvSpPr/>
          <p:nvPr/>
        </p:nvSpPr>
        <p:spPr>
          <a:xfrm>
            <a:off x="6095991" y="2896009"/>
            <a:ext cx="45750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766E"/>
                </a:solidFill>
              </a:rPr>
              <a:t>2026+</a:t>
            </a:r>
            <a:endParaRPr lang="en-US" sz="683" dirty="0"/>
          </a:p>
        </p:txBody>
      </p:sp>
      <p:sp>
        <p:nvSpPr>
          <p:cNvPr id="23" name="Text 17"/>
          <p:cNvSpPr/>
          <p:nvPr/>
        </p:nvSpPr>
        <p:spPr>
          <a:xfrm>
            <a:off x="6095991" y="3231766"/>
            <a:ext cx="23336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D4AA"/>
                </a:solidFill>
              </a:rPr>
              <a:t>Agent Mesh</a:t>
            </a:r>
            <a:endParaRPr lang="en-US" sz="1397" dirty="0"/>
          </a:p>
        </p:txBody>
      </p:sp>
      <p:sp>
        <p:nvSpPr>
          <p:cNvPr id="24" name="Text 18"/>
          <p:cNvSpPr/>
          <p:nvPr/>
        </p:nvSpPr>
        <p:spPr>
          <a:xfrm>
            <a:off x="6095991" y="3590739"/>
            <a:ext cx="23336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Networked agent-to-agent delegation. Complex execution chains without human oversight.</a:t>
            </a:r>
            <a:endParaRPr lang="en-US" sz="942" dirty="0"/>
          </a:p>
        </p:txBody>
      </p:sp>
      <p:sp>
        <p:nvSpPr>
          <p:cNvPr id="25" name="Shape 19"/>
          <p:cNvSpPr/>
          <p:nvPr/>
        </p:nvSpPr>
        <p:spPr>
          <a:xfrm>
            <a:off x="571500" y="4455133"/>
            <a:ext cx="8001000" cy="7286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0"/>
          <p:cNvSpPr/>
          <p:nvPr/>
        </p:nvSpPr>
        <p:spPr>
          <a:xfrm>
            <a:off x="571500" y="4455133"/>
            <a:ext cx="28575" cy="728663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7" name="Text 21"/>
          <p:cNvSpPr/>
          <p:nvPr/>
        </p:nvSpPr>
        <p:spPr>
          <a:xfrm>
            <a:off x="571500" y="4455133"/>
            <a:ext cx="8001000" cy="728663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34155"/>
                </a:solidFill>
              </a:rPr>
              <a:t>The Shift: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 When a sales agent delegates to a data agent, traditional identity controls break down. Each delegation is a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potential security gap.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521869" cy="18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0A2540"/>
                </a:solidFill>
              </a:rPr>
              <a:t>Agent-to-agent delegation creates ungoverned execution chains with zero visibility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685938"/>
            <a:ext cx="35218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When Agent A delegates to Agent B, traditional identity controls break down. Organizations are operating blind—unable to verify identity, enforce policies, or maintain audit trails across the mesh.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571500" y="4161234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1575" y="4079081"/>
            <a:ext cx="2921794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</a:rPr>
              <a:t>The Governance Gap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 Regulatory frameworks like GDPR and SOC 2 require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audit trails that current agent architectures cannot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provide.</a:t>
            </a:r>
            <a:endParaRPr lang="en-US" sz="784" dirty="0"/>
          </a:p>
        </p:txBody>
      </p:sp>
      <p:sp>
        <p:nvSpPr>
          <p:cNvPr id="7" name="Shape 3"/>
          <p:cNvSpPr/>
          <p:nvPr/>
        </p:nvSpPr>
        <p:spPr>
          <a:xfrm>
            <a:off x="4521994" y="571500"/>
            <a:ext cx="4050506" cy="41290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72063" y="1414463"/>
            <a:ext cx="32432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No identity verification for agent-to-agent calls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5072063" y="1975247"/>
            <a:ext cx="32432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Zero policy enforcement at delegation boundaries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072063" y="2536031"/>
            <a:ext cx="29993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Incomplete audit trails across agent chains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5072063" y="2907506"/>
            <a:ext cx="32432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Compliance risk exposure for regulated industries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072063" y="3468291"/>
            <a:ext cx="32432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</a:rPr>
              <a:t>Security vulnerabilities in multi-agent workflows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14375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0A2540"/>
                </a:solidFill>
              </a:rPr>
              <a:t>Gartner predicts </a:t>
            </a:r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00D4AA"/>
                </a:solidFill>
              </a:rPr>
              <a:t>40%</a:t>
            </a:r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0A2540"/>
                </a:solidFill>
              </a:rPr>
              <a:t> of enterprises will deploy </a:t>
            </a:r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0A2540"/>
                </a:solidFill>
              </a:rPr>
              <a:t>agent mesh architectures by 2026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403021"/>
            <a:ext cx="3480932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218" b="1" spc="-3" kern="0" dirty="0">
                <a:solidFill>
                  <a:srgbClr val="0A2540"/>
                </a:solidFill>
              </a:rPr>
              <a:t>40%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571500" y="2374571"/>
            <a:ext cx="3480932" cy="4800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64748B"/>
                </a:solidFill>
              </a:rPr>
              <a:t>Enterprises deploying autonomous agent networks within 12 months.</a:t>
            </a:r>
            <a:endParaRPr lang="en-US" sz="119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332" y="1403021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38232" y="1419988"/>
            <a:ext cx="22377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64748B"/>
                </a:solidFill>
              </a:rPr>
              <a:t>Total Addressable Market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395332" y="1781640"/>
            <a:ext cx="417716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2540"/>
                </a:solidFill>
              </a:rPr>
              <a:t>$8 Billion </a:t>
            </a:r>
            <a:pPr algn="l" indent="0" marL="0">
              <a:lnSpc>
                <a:spcPts val="3200"/>
              </a:lnSpc>
              <a:buNone/>
            </a:pPr>
            <a:r>
              <a:rPr lang="en-US" sz="1193" b="1" dirty="0">
                <a:solidFill>
                  <a:srgbClr val="64748B"/>
                </a:solidFill>
              </a:rPr>
              <a:t>by 2026</a:t>
            </a:r>
            <a:endParaRPr lang="en-US" sz="2436" dirty="0"/>
          </a:p>
        </p:txBody>
      </p:sp>
      <p:sp>
        <p:nvSpPr>
          <p:cNvPr id="9" name="Text 5"/>
          <p:cNvSpPr/>
          <p:nvPr/>
        </p:nvSpPr>
        <p:spPr>
          <a:xfrm>
            <a:off x="4395332" y="2333495"/>
            <a:ext cx="14225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Enterprise AI Adopters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8230577" y="2333495"/>
            <a:ext cx="3419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748B"/>
                </a:solidFill>
              </a:rPr>
              <a:t>$4.1B</a:t>
            </a:r>
            <a:endParaRPr lang="en-US" sz="885" dirty="0"/>
          </a:p>
        </p:txBody>
      </p:sp>
      <p:sp>
        <p:nvSpPr>
          <p:cNvPr id="11" name="Shape 7"/>
          <p:cNvSpPr/>
          <p:nvPr/>
        </p:nvSpPr>
        <p:spPr>
          <a:xfrm>
            <a:off x="4395332" y="2565667"/>
            <a:ext cx="4177168" cy="1714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8"/>
          <p:cNvSpPr/>
          <p:nvPr/>
        </p:nvSpPr>
        <p:spPr>
          <a:xfrm>
            <a:off x="4395332" y="2794267"/>
            <a:ext cx="11754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AI-Native Products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8230577" y="2794267"/>
            <a:ext cx="3419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748B"/>
                </a:solidFill>
              </a:rPr>
              <a:t>$2.8B</a:t>
            </a:r>
            <a:endParaRPr lang="en-US" sz="885" dirty="0"/>
          </a:p>
        </p:txBody>
      </p:sp>
      <p:sp>
        <p:nvSpPr>
          <p:cNvPr id="14" name="Shape 10"/>
          <p:cNvSpPr/>
          <p:nvPr/>
        </p:nvSpPr>
        <p:spPr>
          <a:xfrm>
            <a:off x="4395332" y="3026439"/>
            <a:ext cx="4177168" cy="1714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1"/>
          <p:cNvSpPr/>
          <p:nvPr/>
        </p:nvSpPr>
        <p:spPr>
          <a:xfrm>
            <a:off x="4395332" y="3255039"/>
            <a:ext cx="13136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Regulated Industries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8230577" y="3255039"/>
            <a:ext cx="3419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748B"/>
                </a:solidFill>
              </a:rPr>
              <a:t>$1.1B</a:t>
            </a:r>
            <a:endParaRPr lang="en-US" sz="885" dirty="0"/>
          </a:p>
        </p:txBody>
      </p:sp>
      <p:sp>
        <p:nvSpPr>
          <p:cNvPr id="17" name="Shape 13"/>
          <p:cNvSpPr/>
          <p:nvPr/>
        </p:nvSpPr>
        <p:spPr>
          <a:xfrm>
            <a:off x="4395332" y="3487210"/>
            <a:ext cx="4177168" cy="1714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571500" y="4349483"/>
            <a:ext cx="8001000" cy="6225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571500" y="434948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571500" y="4442352"/>
            <a:ext cx="255269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2540"/>
                </a:solidFill>
              </a:rPr>
              <a:t>73%</a:t>
            </a:r>
            <a:endParaRPr lang="en-US" sz="1602" dirty="0"/>
          </a:p>
        </p:txBody>
      </p:sp>
      <p:sp>
        <p:nvSpPr>
          <p:cNvPr id="21" name="Text 17"/>
          <p:cNvSpPr/>
          <p:nvPr/>
        </p:nvSpPr>
        <p:spPr>
          <a:xfrm>
            <a:off x="571500" y="4812041"/>
            <a:ext cx="25526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CIOs cite governance as their top AI concern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3295641" y="4442352"/>
            <a:ext cx="255269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2540"/>
                </a:solidFill>
              </a:rPr>
              <a:t>$180K</a:t>
            </a:r>
            <a:endParaRPr lang="en-US" sz="1602" dirty="0"/>
          </a:p>
        </p:txBody>
      </p:sp>
      <p:sp>
        <p:nvSpPr>
          <p:cNvPr id="23" name="Text 19"/>
          <p:cNvSpPr/>
          <p:nvPr/>
        </p:nvSpPr>
        <p:spPr>
          <a:xfrm>
            <a:off x="3295641" y="4812041"/>
            <a:ext cx="25526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Average annual enterprise spend on AI security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6019781" y="4442352"/>
            <a:ext cx="255271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2540"/>
                </a:solidFill>
              </a:rPr>
              <a:t>2.3x</a:t>
            </a:r>
            <a:endParaRPr lang="en-US" sz="1602" dirty="0"/>
          </a:p>
        </p:txBody>
      </p:sp>
      <p:sp>
        <p:nvSpPr>
          <p:cNvPr id="25" name="Text 21"/>
          <p:cNvSpPr/>
          <p:nvPr/>
        </p:nvSpPr>
        <p:spPr>
          <a:xfrm>
            <a:off x="6019781" y="4812041"/>
            <a:ext cx="255271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Faster adoption rate in regulated sectors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143750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26" b="1" spc="-1" kern="0" dirty="0">
                <a:solidFill>
                  <a:srgbClr val="0A2540"/>
                </a:solidFill>
              </a:rPr>
              <a:t>MeshGuard provides the missing governance layer for agent-to-agent interactions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571500" y="1434443"/>
            <a:ext cx="6429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Sitting between agents as a governance control plane, MeshGuard intercepts every delegation request to enforce identity, policy, and audit requirements in real-time.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2063093"/>
            <a:ext cx="2476481" cy="173414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205968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2834618"/>
            <a:ext cx="18804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Identity Management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714375" y="3125725"/>
            <a:ext cx="21907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Issues verifiable credentials to agents and ensures authorized identities before delegation.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333731" y="2063093"/>
            <a:ext cx="2476509" cy="173414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56" y="2263118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6606" y="2834618"/>
            <a:ext cx="16504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Policy Enforcement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3476606" y="3125725"/>
            <a:ext cx="21907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Evaluates requests against rules for data access, rate limits, and compliance in real-time.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6095991" y="2063093"/>
            <a:ext cx="2476481" cy="173414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878" y="2263118"/>
            <a:ext cx="257175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38866" y="2834618"/>
            <a:ext cx="17354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Audit Infrastructure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6238866" y="3125725"/>
            <a:ext cx="21907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Captures execution traces with context propagation for forensic analysis and compliance.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571500" y="4100513"/>
            <a:ext cx="8001000" cy="4714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571500" y="4100513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3"/>
          <p:cNvSpPr/>
          <p:nvPr/>
        </p:nvSpPr>
        <p:spPr>
          <a:xfrm>
            <a:off x="571500" y="4369296"/>
            <a:ext cx="28615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</a:rPr>
              <a:t>Integrates seamlessly with your existing agent stack</a:t>
            </a:r>
            <a:endParaRPr lang="en-US" sz="784" dirty="0"/>
          </a:p>
        </p:txBody>
      </p:sp>
      <p:sp>
        <p:nvSpPr>
          <p:cNvPr id="20" name="Shape 14"/>
          <p:cNvSpPr/>
          <p:nvPr/>
        </p:nvSpPr>
        <p:spPr>
          <a:xfrm>
            <a:off x="5231904" y="4321969"/>
            <a:ext cx="738569" cy="250031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1" name="Text 15"/>
          <p:cNvSpPr/>
          <p:nvPr/>
        </p:nvSpPr>
        <p:spPr>
          <a:xfrm>
            <a:off x="5231904" y="4321969"/>
            <a:ext cx="738569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</a:rPr>
              <a:t>LangChain</a:t>
            </a:r>
            <a:endParaRPr lang="en-US" sz="683" dirty="0"/>
          </a:p>
        </p:txBody>
      </p:sp>
      <p:sp>
        <p:nvSpPr>
          <p:cNvPr id="22" name="Shape 16"/>
          <p:cNvSpPr/>
          <p:nvPr/>
        </p:nvSpPr>
        <p:spPr>
          <a:xfrm>
            <a:off x="6113348" y="4321969"/>
            <a:ext cx="646454" cy="250031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3" name="Text 17"/>
          <p:cNvSpPr/>
          <p:nvPr/>
        </p:nvSpPr>
        <p:spPr>
          <a:xfrm>
            <a:off x="6113348" y="4321969"/>
            <a:ext cx="646454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</a:rPr>
              <a:t>AutoGPT</a:t>
            </a:r>
            <a:endParaRPr lang="en-US" sz="683" dirty="0"/>
          </a:p>
        </p:txBody>
      </p:sp>
      <p:sp>
        <p:nvSpPr>
          <p:cNvPr id="24" name="Shape 18"/>
          <p:cNvSpPr/>
          <p:nvPr/>
        </p:nvSpPr>
        <p:spPr>
          <a:xfrm>
            <a:off x="6902676" y="4321969"/>
            <a:ext cx="569156" cy="250031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5" name="Text 19"/>
          <p:cNvSpPr/>
          <p:nvPr/>
        </p:nvSpPr>
        <p:spPr>
          <a:xfrm>
            <a:off x="6902676" y="4321969"/>
            <a:ext cx="569156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</a:rPr>
              <a:t>CrewAI</a:t>
            </a:r>
            <a:endParaRPr lang="en-US" sz="683" dirty="0"/>
          </a:p>
        </p:txBody>
      </p:sp>
      <p:sp>
        <p:nvSpPr>
          <p:cNvPr id="26" name="Shape 20"/>
          <p:cNvSpPr/>
          <p:nvPr/>
        </p:nvSpPr>
        <p:spPr>
          <a:xfrm>
            <a:off x="7614707" y="4321969"/>
            <a:ext cx="957793" cy="250031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7" name="Text 21"/>
          <p:cNvSpPr/>
          <p:nvPr/>
        </p:nvSpPr>
        <p:spPr>
          <a:xfrm>
            <a:off x="7614707" y="4321969"/>
            <a:ext cx="957793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75569"/>
                </a:solidFill>
              </a:rPr>
              <a:t>Custom Agents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9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143750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0A2540"/>
                </a:solidFill>
              </a:rPr>
              <a:t>MeshGuard's architecture provides comprehensive governance without performance overhead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847357"/>
            <a:ext cx="130764" cy="5036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AA"/>
                </a:solidFill>
              </a:rPr>
              <a:t>01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816564" y="1847357"/>
            <a:ext cx="35411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Identity Provider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816564" y="2050954"/>
            <a:ext cx="35411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Issues verifiable credentials to agents. Manages the agent registry with unique identities and metadata.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571500" y="2471542"/>
            <a:ext cx="130764" cy="5036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AA"/>
                </a:solidFill>
              </a:rPr>
              <a:t>02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816564" y="2471542"/>
            <a:ext cx="35411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Policy Engine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816564" y="2675139"/>
            <a:ext cx="35411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Evaluates delegation requests against customizable rules. Checks permissions and compliance in real-time.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571500" y="3095727"/>
            <a:ext cx="130764" cy="5036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AA"/>
                </a:solidFill>
              </a:rPr>
              <a:t>03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816564" y="3095727"/>
            <a:ext cx="35411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Audit Store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816564" y="3299324"/>
            <a:ext cx="35411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Captures immutable logs of every interaction. Enables forensic analysis and regulatory reporting.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71500" y="3719912"/>
            <a:ext cx="130764" cy="5036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AA"/>
                </a:solidFill>
              </a:rPr>
              <a:t>04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16564" y="3719912"/>
            <a:ext cx="35411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SDK Layer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816564" y="3923509"/>
            <a:ext cx="35411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Lightweight libraries for LangChain, AutoGPT, etc. Handles credential management transparently.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571500" y="4344098"/>
            <a:ext cx="130764" cy="503634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4AA"/>
                </a:solidFill>
              </a:rPr>
              <a:t>05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816564" y="4344098"/>
            <a:ext cx="35411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2540"/>
                </a:solidFill>
              </a:rPr>
              <a:t>Dashboard &amp; Analytics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816564" y="4547695"/>
            <a:ext cx="35411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64748B"/>
                </a:solidFill>
              </a:rPr>
              <a:t>Real-time visibility into agent activity with drill-down capabilities and alerting.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786313" y="2233120"/>
            <a:ext cx="3786188" cy="428625"/>
          </a:xfrm>
          <a:prstGeom prst="rect">
            <a:avLst/>
          </a:prstGeom>
          <a:solidFill>
            <a:srgbClr val="F1F5F9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86313" y="2233120"/>
            <a:ext cx="3786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2540"/>
                </a:solidFill>
              </a:rPr>
              <a:t>Dashboard &amp; Analytics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4786313" y="2776045"/>
            <a:ext cx="1111746" cy="1143000"/>
          </a:xfrm>
          <a:prstGeom prst="rect">
            <a:avLst/>
          </a:prstGeom>
          <a:solidFill>
            <a:srgbClr val="0A25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07223" y="3192168"/>
            <a:ext cx="469897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Identity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Provider</a:t>
            </a:r>
            <a:endParaRPr lang="en-US" sz="784" dirty="0"/>
          </a:p>
        </p:txBody>
      </p:sp>
      <p:sp>
        <p:nvSpPr>
          <p:cNvPr id="23" name="Shape 20"/>
          <p:cNvSpPr/>
          <p:nvPr/>
        </p:nvSpPr>
        <p:spPr>
          <a:xfrm>
            <a:off x="6012359" y="2776045"/>
            <a:ext cx="1334095" cy="1143000"/>
          </a:xfrm>
          <a:prstGeom prst="rect">
            <a:avLst/>
          </a:prstGeom>
          <a:solidFill>
            <a:srgbClr val="0A2540"/>
          </a:solidFill>
          <a:ln w="18288">
            <a:solidFill>
              <a:srgbClr val="00D4A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956" y="2977855"/>
            <a:ext cx="342900" cy="3429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88730" y="3406480"/>
            <a:ext cx="38132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Policy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Engine</a:t>
            </a:r>
            <a:endParaRPr lang="en-US" sz="784" dirty="0"/>
          </a:p>
        </p:txBody>
      </p:sp>
      <p:sp>
        <p:nvSpPr>
          <p:cNvPr id="26" name="Shape 22"/>
          <p:cNvSpPr/>
          <p:nvPr/>
        </p:nvSpPr>
        <p:spPr>
          <a:xfrm>
            <a:off x="7460754" y="2776045"/>
            <a:ext cx="1111746" cy="1143000"/>
          </a:xfrm>
          <a:prstGeom prst="rect">
            <a:avLst/>
          </a:prstGeom>
          <a:solidFill>
            <a:srgbClr val="0A2540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66190" y="3192168"/>
            <a:ext cx="300847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Audit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Store</a:t>
            </a:r>
            <a:endParaRPr lang="en-US" sz="784" dirty="0"/>
          </a:p>
        </p:txBody>
      </p:sp>
      <p:sp>
        <p:nvSpPr>
          <p:cNvPr id="28" name="Shape 24"/>
          <p:cNvSpPr/>
          <p:nvPr/>
        </p:nvSpPr>
        <p:spPr>
          <a:xfrm>
            <a:off x="4786313" y="4033345"/>
            <a:ext cx="3786188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5"/>
          <p:cNvSpPr/>
          <p:nvPr/>
        </p:nvSpPr>
        <p:spPr>
          <a:xfrm>
            <a:off x="4786313" y="4033345"/>
            <a:ext cx="3786188" cy="28575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Shape 26"/>
          <p:cNvSpPr/>
          <p:nvPr/>
        </p:nvSpPr>
        <p:spPr>
          <a:xfrm>
            <a:off x="8565356" y="4033345"/>
            <a:ext cx="7144" cy="4286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7"/>
          <p:cNvSpPr/>
          <p:nvPr/>
        </p:nvSpPr>
        <p:spPr>
          <a:xfrm>
            <a:off x="4786313" y="4454826"/>
            <a:ext cx="3786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8"/>
          <p:cNvSpPr/>
          <p:nvPr/>
        </p:nvSpPr>
        <p:spPr>
          <a:xfrm>
            <a:off x="4786313" y="4033345"/>
            <a:ext cx="7144" cy="4286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29"/>
          <p:cNvSpPr/>
          <p:nvPr/>
        </p:nvSpPr>
        <p:spPr>
          <a:xfrm>
            <a:off x="4786313" y="4033345"/>
            <a:ext cx="3786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A2540"/>
                </a:solidFill>
              </a:rPr>
              <a:t>SDK Layer (Agent Integration)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429375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26" b="1" spc="-1" kern="0" dirty="0">
                <a:solidFill>
                  <a:srgbClr val="0A2540"/>
                </a:solidFill>
              </a:rPr>
              <a:t>Existing solutions weren't designed for autonomous agent delegation patterns</a:t>
            </a:r>
            <a:endParaRPr lang="en-US" sz="2226" dirty="0"/>
          </a:p>
        </p:txBody>
      </p:sp>
      <p:sp>
        <p:nvSpPr>
          <p:cNvPr id="4" name="Shape 1"/>
          <p:cNvSpPr/>
          <p:nvPr/>
        </p:nvSpPr>
        <p:spPr>
          <a:xfrm>
            <a:off x="571500" y="1405868"/>
            <a:ext cx="1871663" cy="3309007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2950" y="1634468"/>
            <a:ext cx="342900" cy="3429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91" y="1720193"/>
            <a:ext cx="150019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950" y="2091668"/>
            <a:ext cx="1528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2540"/>
                </a:solidFill>
              </a:rPr>
              <a:t>Traditional IAM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42950" y="2343485"/>
            <a:ext cx="15287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Okta, Auth0, Ping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742950" y="2772110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Built For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742950" y="2931058"/>
            <a:ext cx="15287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Human Users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742950" y="3233942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Model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742950" y="3392891"/>
            <a:ext cx="15287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Session-based</a:t>
            </a:r>
            <a:endParaRPr lang="en-US" sz="784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209455"/>
            <a:ext cx="107156" cy="1071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2969" y="4188023"/>
            <a:ext cx="10852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F4444"/>
                </a:solidFill>
              </a:rPr>
              <a:t>Cannot handle agent</a:t>
            </a:r>
            <a:endParaRPr lang="en-US" sz="780" dirty="0"/>
          </a:p>
        </p:txBody>
      </p:sp>
      <p:sp>
        <p:nvSpPr>
          <p:cNvPr id="15" name="Text 10"/>
          <p:cNvSpPr/>
          <p:nvPr/>
        </p:nvSpPr>
        <p:spPr>
          <a:xfrm>
            <a:off x="742950" y="4338042"/>
            <a:ext cx="88867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F4444"/>
                </a:solidFill>
              </a:rPr>
              <a:t>delegation chains</a:t>
            </a:r>
            <a:endParaRPr lang="en-US" sz="780" dirty="0"/>
          </a:p>
        </p:txBody>
      </p:sp>
      <p:sp>
        <p:nvSpPr>
          <p:cNvPr id="16" name="Shape 11"/>
          <p:cNvSpPr/>
          <p:nvPr/>
        </p:nvSpPr>
        <p:spPr>
          <a:xfrm>
            <a:off x="2614613" y="1405868"/>
            <a:ext cx="1871663" cy="3309007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786063" y="1634468"/>
            <a:ext cx="342900" cy="3429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788" y="1720193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786063" y="2091668"/>
            <a:ext cx="1528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2540"/>
                </a:solidFill>
              </a:rPr>
              <a:t>API Gateways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2786063" y="2343485"/>
            <a:ext cx="15287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Kong, Apigee</a:t>
            </a: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2786063" y="2772110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Built For</a:t>
            </a:r>
            <a:endParaRPr lang="en-US" sz="584" dirty="0"/>
          </a:p>
        </p:txBody>
      </p:sp>
      <p:sp>
        <p:nvSpPr>
          <p:cNvPr id="22" name="Text 16"/>
          <p:cNvSpPr/>
          <p:nvPr/>
        </p:nvSpPr>
        <p:spPr>
          <a:xfrm>
            <a:off x="2786063" y="2931058"/>
            <a:ext cx="15287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Sync Requests</a:t>
            </a:r>
            <a:endParaRPr lang="en-US" sz="784" dirty="0"/>
          </a:p>
        </p:txBody>
      </p:sp>
      <p:sp>
        <p:nvSpPr>
          <p:cNvPr id="23" name="Text 17"/>
          <p:cNvSpPr/>
          <p:nvPr/>
        </p:nvSpPr>
        <p:spPr>
          <a:xfrm>
            <a:off x="2786063" y="3233942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Model</a:t>
            </a:r>
            <a:endParaRPr lang="en-US" sz="584" dirty="0"/>
          </a:p>
        </p:txBody>
      </p:sp>
      <p:sp>
        <p:nvSpPr>
          <p:cNvPr id="24" name="Text 18"/>
          <p:cNvSpPr/>
          <p:nvPr/>
        </p:nvSpPr>
        <p:spPr>
          <a:xfrm>
            <a:off x="2786063" y="3392891"/>
            <a:ext cx="15287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Request/Response</a:t>
            </a:r>
            <a:endParaRPr lang="en-US" sz="784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063" y="4209455"/>
            <a:ext cx="107156" cy="1071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936081" y="4188023"/>
            <a:ext cx="12269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F4444"/>
                </a:solidFill>
              </a:rPr>
              <a:t>No context propagation</a:t>
            </a:r>
            <a:endParaRPr lang="en-US" sz="780" dirty="0"/>
          </a:p>
        </p:txBody>
      </p:sp>
      <p:sp>
        <p:nvSpPr>
          <p:cNvPr id="27" name="Text 20"/>
          <p:cNvSpPr/>
          <p:nvPr/>
        </p:nvSpPr>
        <p:spPr>
          <a:xfrm>
            <a:off x="2786063" y="4338042"/>
            <a:ext cx="59731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F4444"/>
                </a:solidFill>
              </a:rPr>
              <a:t>across hops</a:t>
            </a:r>
            <a:endParaRPr lang="en-US" sz="780" dirty="0"/>
          </a:p>
        </p:txBody>
      </p:sp>
      <p:sp>
        <p:nvSpPr>
          <p:cNvPr id="28" name="Shape 21"/>
          <p:cNvSpPr/>
          <p:nvPr/>
        </p:nvSpPr>
        <p:spPr>
          <a:xfrm>
            <a:off x="4657725" y="1405868"/>
            <a:ext cx="1871663" cy="3309007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29175" y="1634468"/>
            <a:ext cx="342900" cy="3429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1720193"/>
            <a:ext cx="171450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829175" y="2091668"/>
            <a:ext cx="1528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2540"/>
                </a:solidFill>
              </a:rPr>
              <a:t>AI Governance</a:t>
            </a:r>
            <a:endParaRPr lang="en-US" sz="987" dirty="0"/>
          </a:p>
        </p:txBody>
      </p:sp>
      <p:sp>
        <p:nvSpPr>
          <p:cNvPr id="32" name="Text 24"/>
          <p:cNvSpPr/>
          <p:nvPr/>
        </p:nvSpPr>
        <p:spPr>
          <a:xfrm>
            <a:off x="4829175" y="2343485"/>
            <a:ext cx="15287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Arthur, Fiddler</a:t>
            </a:r>
            <a:endParaRPr lang="en-US" sz="683" dirty="0"/>
          </a:p>
        </p:txBody>
      </p:sp>
      <p:sp>
        <p:nvSpPr>
          <p:cNvPr id="33" name="Text 25"/>
          <p:cNvSpPr/>
          <p:nvPr/>
        </p:nvSpPr>
        <p:spPr>
          <a:xfrm>
            <a:off x="4829175" y="2772110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Built For</a:t>
            </a:r>
            <a:endParaRPr lang="en-US" sz="584" dirty="0"/>
          </a:p>
        </p:txBody>
      </p:sp>
      <p:sp>
        <p:nvSpPr>
          <p:cNvPr id="34" name="Text 26"/>
          <p:cNvSpPr/>
          <p:nvPr/>
        </p:nvSpPr>
        <p:spPr>
          <a:xfrm>
            <a:off x="4829175" y="2931058"/>
            <a:ext cx="15287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Model Bias</a:t>
            </a:r>
            <a:endParaRPr lang="en-US" sz="784" dirty="0"/>
          </a:p>
        </p:txBody>
      </p:sp>
      <p:sp>
        <p:nvSpPr>
          <p:cNvPr id="35" name="Text 27"/>
          <p:cNvSpPr/>
          <p:nvPr/>
        </p:nvSpPr>
        <p:spPr>
          <a:xfrm>
            <a:off x="4829175" y="3233942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Model</a:t>
            </a:r>
            <a:endParaRPr lang="en-US" sz="584" dirty="0"/>
          </a:p>
        </p:txBody>
      </p:sp>
      <p:sp>
        <p:nvSpPr>
          <p:cNvPr id="36" name="Text 28"/>
          <p:cNvSpPr/>
          <p:nvPr/>
        </p:nvSpPr>
        <p:spPr>
          <a:xfrm>
            <a:off x="4829175" y="3392891"/>
            <a:ext cx="15287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Monitoring</a:t>
            </a:r>
            <a:endParaRPr lang="en-US" sz="784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4209455"/>
            <a:ext cx="107156" cy="1071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979194" y="4188023"/>
            <a:ext cx="103877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F4444"/>
                </a:solidFill>
              </a:rPr>
              <a:t>No identity or policy</a:t>
            </a:r>
            <a:endParaRPr lang="en-US" sz="780" dirty="0"/>
          </a:p>
        </p:txBody>
      </p:sp>
      <p:sp>
        <p:nvSpPr>
          <p:cNvPr id="39" name="Text 30"/>
          <p:cNvSpPr/>
          <p:nvPr/>
        </p:nvSpPr>
        <p:spPr>
          <a:xfrm>
            <a:off x="4829175" y="4338042"/>
            <a:ext cx="64787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F4444"/>
                </a:solidFill>
              </a:rPr>
              <a:t>enforcement</a:t>
            </a:r>
            <a:endParaRPr lang="en-US" sz="780" dirty="0"/>
          </a:p>
        </p:txBody>
      </p:sp>
      <p:sp>
        <p:nvSpPr>
          <p:cNvPr id="40" name="Shape 31"/>
          <p:cNvSpPr/>
          <p:nvPr/>
        </p:nvSpPr>
        <p:spPr>
          <a:xfrm>
            <a:off x="6682121" y="1372778"/>
            <a:ext cx="1909096" cy="3375187"/>
          </a:xfrm>
          <a:prstGeom prst="rect">
            <a:avLst/>
          </a:prstGeom>
          <a:solidFill>
            <a:srgbClr val="0A2540"/>
          </a:solidFill>
          <a:ln w="9144">
            <a:solidFill>
              <a:srgbClr val="0A254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857000" y="1605950"/>
            <a:ext cx="349758" cy="34975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5293" y="1664243"/>
            <a:ext cx="233172" cy="2331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57000" y="2072294"/>
            <a:ext cx="1559338" cy="198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MeshGuard</a:t>
            </a:r>
            <a:endParaRPr lang="en-US" sz="987" dirty="0"/>
          </a:p>
        </p:txBody>
      </p:sp>
      <p:sp>
        <p:nvSpPr>
          <p:cNvPr id="44" name="Text 34"/>
          <p:cNvSpPr/>
          <p:nvPr/>
        </p:nvSpPr>
        <p:spPr>
          <a:xfrm>
            <a:off x="6857000" y="2329147"/>
            <a:ext cx="1559338" cy="138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D4AA"/>
                </a:solidFill>
              </a:rPr>
              <a:t>The Agent Standard</a:t>
            </a:r>
            <a:endParaRPr lang="en-US" sz="683" dirty="0"/>
          </a:p>
        </p:txBody>
      </p:sp>
      <p:sp>
        <p:nvSpPr>
          <p:cNvPr id="45" name="Text 35"/>
          <p:cNvSpPr/>
          <p:nvPr/>
        </p:nvSpPr>
        <p:spPr>
          <a:xfrm>
            <a:off x="6857000" y="2766345"/>
            <a:ext cx="1559338" cy="118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Built For</a:t>
            </a:r>
            <a:endParaRPr lang="en-US" sz="584" dirty="0"/>
          </a:p>
        </p:txBody>
      </p:sp>
      <p:sp>
        <p:nvSpPr>
          <p:cNvPr id="46" name="Text 36"/>
          <p:cNvSpPr/>
          <p:nvPr/>
        </p:nvSpPr>
        <p:spPr>
          <a:xfrm>
            <a:off x="6857000" y="2928472"/>
            <a:ext cx="1559338" cy="163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Autonomous Agents</a:t>
            </a:r>
            <a:endParaRPr lang="en-US" sz="784" dirty="0"/>
          </a:p>
        </p:txBody>
      </p:sp>
      <p:sp>
        <p:nvSpPr>
          <p:cNvPr id="47" name="Text 37"/>
          <p:cNvSpPr/>
          <p:nvPr/>
        </p:nvSpPr>
        <p:spPr>
          <a:xfrm>
            <a:off x="6857000" y="3237413"/>
            <a:ext cx="1559338" cy="118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Model</a:t>
            </a:r>
            <a:endParaRPr lang="en-US" sz="584" dirty="0"/>
          </a:p>
        </p:txBody>
      </p:sp>
      <p:sp>
        <p:nvSpPr>
          <p:cNvPr id="48" name="Text 38"/>
          <p:cNvSpPr/>
          <p:nvPr/>
        </p:nvSpPr>
        <p:spPr>
          <a:xfrm>
            <a:off x="6857000" y="3399541"/>
            <a:ext cx="1559338" cy="163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Delegation Chains</a:t>
            </a:r>
            <a:endParaRPr lang="en-US" sz="784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7000" y="4232436"/>
            <a:ext cx="109300" cy="109299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7010019" y="4210576"/>
            <a:ext cx="1233233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D4AA"/>
                </a:solidFill>
              </a:rPr>
              <a:t>Native identity, policy &amp;</a:t>
            </a:r>
            <a:endParaRPr lang="en-US" sz="780" dirty="0"/>
          </a:p>
        </p:txBody>
      </p:sp>
      <p:sp>
        <p:nvSpPr>
          <p:cNvPr id="51" name="Text 40"/>
          <p:cNvSpPr/>
          <p:nvPr/>
        </p:nvSpPr>
        <p:spPr>
          <a:xfrm>
            <a:off x="6857000" y="4363596"/>
            <a:ext cx="753198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00D4AA"/>
                </a:solidFill>
              </a:rPr>
              <a:t>audit for mesh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7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64293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0A2540"/>
                </a:solidFill>
              </a:rPr>
              <a:t>Predictable pricing aligned with agent deployment scale and governance requirements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8001000" y="571500"/>
            <a:ext cx="571500" cy="5715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685800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131628"/>
            <a:ext cx="24383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Starter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71500" y="2451311"/>
            <a:ext cx="2438391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-1" kern="0" dirty="0">
                <a:solidFill>
                  <a:srgbClr val="64748B"/>
                </a:solidFill>
              </a:rPr>
              <a:t>$2,000</a:t>
            </a:r>
            <a:pPr algn="l" indent="0" marL="0">
              <a:lnSpc>
                <a:spcPts val="1400"/>
              </a:lnSpc>
              <a:buNone/>
            </a:pPr>
            <a:r>
              <a:rPr lang="en-US" sz="987" b="1" spc="-1" kern="0" dirty="0">
                <a:solidFill>
                  <a:srgbClr val="64748B"/>
                </a:solidFill>
              </a:rPr>
              <a:t>/mo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2960303"/>
            <a:ext cx="24383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For teams building initial agent prototypes and MVPs.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800100" y="3488941"/>
            <a:ext cx="16233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Up to 100,000 delegations/mo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800100" y="3706099"/>
            <a:ext cx="11855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Basic policy templates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800100" y="3923258"/>
            <a:ext cx="11918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30-day audit retention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3352791" y="2131628"/>
            <a:ext cx="24383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D4AA"/>
                </a:solidFill>
              </a:rPr>
              <a:t>Professional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3352791" y="2451311"/>
            <a:ext cx="2438391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-1" kern="0" dirty="0">
                <a:solidFill>
                  <a:srgbClr val="64748B"/>
                </a:solidFill>
              </a:rPr>
              <a:t>$10,000</a:t>
            </a:r>
            <a:pPr algn="l" indent="0" marL="0">
              <a:lnSpc>
                <a:spcPts val="1400"/>
              </a:lnSpc>
              <a:buNone/>
            </a:pPr>
            <a:r>
              <a:rPr lang="en-US" sz="987" b="1" spc="-1" kern="0" dirty="0">
                <a:solidFill>
                  <a:srgbClr val="64748B"/>
                </a:solidFill>
              </a:rPr>
              <a:t>/mo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3352791" y="2960303"/>
            <a:ext cx="24383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For production agent deployments requiring security.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3581391" y="3488941"/>
            <a:ext cx="136945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Up to 1M delegations/mo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3581391" y="3706099"/>
            <a:ext cx="115592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Custom policy engine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3581391" y="3923258"/>
            <a:ext cx="116780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1-year audit retention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3581391" y="4140417"/>
            <a:ext cx="84949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SSO Integration</a:t>
            </a:r>
            <a:endParaRPr lang="en-US" sz="834" dirty="0"/>
          </a:p>
        </p:txBody>
      </p:sp>
      <p:sp>
        <p:nvSpPr>
          <p:cNvPr id="19" name="Text 15"/>
          <p:cNvSpPr/>
          <p:nvPr/>
        </p:nvSpPr>
        <p:spPr>
          <a:xfrm>
            <a:off x="6134081" y="2131628"/>
            <a:ext cx="24384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Enterprise</a:t>
            </a:r>
            <a:endParaRPr lang="en-US" sz="1193" dirty="0"/>
          </a:p>
        </p:txBody>
      </p:sp>
      <p:sp>
        <p:nvSpPr>
          <p:cNvPr id="20" name="Text 16"/>
          <p:cNvSpPr/>
          <p:nvPr/>
        </p:nvSpPr>
        <p:spPr>
          <a:xfrm>
            <a:off x="6134081" y="2451311"/>
            <a:ext cx="243841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A2540"/>
                </a:solidFill>
              </a:rPr>
              <a:t>Custom</a:t>
            </a:r>
            <a:endParaRPr lang="en-US" sz="2436" dirty="0"/>
          </a:p>
        </p:txBody>
      </p:sp>
      <p:sp>
        <p:nvSpPr>
          <p:cNvPr id="21" name="Text 17"/>
          <p:cNvSpPr/>
          <p:nvPr/>
        </p:nvSpPr>
        <p:spPr>
          <a:xfrm>
            <a:off x="6134081" y="2960303"/>
            <a:ext cx="24384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4748B"/>
                </a:solidFill>
              </a:rPr>
              <a:t>For large-scale, regulated deployments.</a:t>
            </a:r>
            <a:endParaRPr lang="en-US" sz="942" dirty="0"/>
          </a:p>
        </p:txBody>
      </p:sp>
      <p:sp>
        <p:nvSpPr>
          <p:cNvPr id="22" name="Text 18"/>
          <p:cNvSpPr/>
          <p:nvPr/>
        </p:nvSpPr>
        <p:spPr>
          <a:xfrm>
            <a:off x="6362681" y="3488941"/>
            <a:ext cx="118371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Unlimited delegations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6362681" y="3706099"/>
            <a:ext cx="130462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On-premise deployment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6362681" y="3923258"/>
            <a:ext cx="159632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Custom compliance reporting</a:t>
            </a:r>
            <a:endParaRPr lang="en-US" sz="834" dirty="0"/>
          </a:p>
        </p:txBody>
      </p:sp>
      <p:sp>
        <p:nvSpPr>
          <p:cNvPr id="25" name="Text 21"/>
          <p:cNvSpPr/>
          <p:nvPr/>
        </p:nvSpPr>
        <p:spPr>
          <a:xfrm>
            <a:off x="6362681" y="4140417"/>
            <a:ext cx="83509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SLA guarantees</a:t>
            </a:r>
            <a:endParaRPr lang="en-US" sz="834" dirty="0"/>
          </a:p>
        </p:txBody>
      </p:sp>
      <p:sp>
        <p:nvSpPr>
          <p:cNvPr id="26" name="Shape 22"/>
          <p:cNvSpPr/>
          <p:nvPr/>
        </p:nvSpPr>
        <p:spPr>
          <a:xfrm>
            <a:off x="571500" y="4300426"/>
            <a:ext cx="8001000" cy="2768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571500" y="4300426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4"/>
          <p:cNvSpPr/>
          <p:nvPr/>
        </p:nvSpPr>
        <p:spPr>
          <a:xfrm>
            <a:off x="571500" y="4300426"/>
            <a:ext cx="8001000" cy="27682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</a:rPr>
              <a:t>Value Alignment: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 Our usage-based model scales with the complexity of your agent mesh, ensuring governance costs match value delivered.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6429375" cy="1037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26" b="1" spc="-1" kern="0" dirty="0">
                <a:solidFill>
                  <a:srgbClr val="0A2540"/>
                </a:solidFill>
              </a:rPr>
              <a:t>Four-quarter roadmap focused on product-market fit and enterprise readiness</a:t>
            </a:r>
            <a:endParaRPr lang="en-US" sz="2226" dirty="0"/>
          </a:p>
        </p:txBody>
      </p:sp>
      <p:sp>
        <p:nvSpPr>
          <p:cNvPr id="4" name="Shape 1"/>
          <p:cNvSpPr/>
          <p:nvPr/>
        </p:nvSpPr>
        <p:spPr>
          <a:xfrm>
            <a:off x="8115300" y="571500"/>
            <a:ext cx="457200" cy="457200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6858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408839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Q1 2026</a:t>
            </a:r>
            <a:endParaRPr lang="en-US" sz="1193" dirty="0"/>
          </a:p>
        </p:txBody>
      </p:sp>
      <p:sp>
        <p:nvSpPr>
          <p:cNvPr id="7" name="Shape 3"/>
          <p:cNvSpPr/>
          <p:nvPr/>
        </p:nvSpPr>
        <p:spPr>
          <a:xfrm>
            <a:off x="571500" y="2699947"/>
            <a:ext cx="844944" cy="192881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8" name="Text 4"/>
          <p:cNvSpPr/>
          <p:nvPr/>
        </p:nvSpPr>
        <p:spPr>
          <a:xfrm>
            <a:off x="571500" y="2699947"/>
            <a:ext cx="844944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D4AA"/>
                </a:solidFill>
              </a:rPr>
              <a:t>MVP Launch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571500" y="306427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Core Identity &amp; Policy Engine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571500" y="335002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LangChain &amp; AutoGPT SDKs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571500" y="363577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Onboard 5 Design Partners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2643188" y="2408839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Q2 2026</a:t>
            </a:r>
            <a:endParaRPr lang="en-US" sz="1193" dirty="0"/>
          </a:p>
        </p:txBody>
      </p:sp>
      <p:sp>
        <p:nvSpPr>
          <p:cNvPr id="13" name="Shape 9"/>
          <p:cNvSpPr/>
          <p:nvPr/>
        </p:nvSpPr>
        <p:spPr>
          <a:xfrm>
            <a:off x="2643188" y="2699947"/>
            <a:ext cx="838833" cy="192881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4" name="Text 10"/>
          <p:cNvSpPr/>
          <p:nvPr/>
        </p:nvSpPr>
        <p:spPr>
          <a:xfrm>
            <a:off x="2643188" y="2699947"/>
            <a:ext cx="838833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D4AA"/>
                </a:solidFill>
              </a:rPr>
              <a:t>Compliance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2643188" y="306427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Advanced Policy Primitives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2643188" y="335002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CrewAI Support</a:t>
            </a:r>
            <a:endParaRPr lang="en-US" sz="834" dirty="0"/>
          </a:p>
        </p:txBody>
      </p:sp>
      <p:sp>
        <p:nvSpPr>
          <p:cNvPr id="17" name="Text 13"/>
          <p:cNvSpPr/>
          <p:nvPr/>
        </p:nvSpPr>
        <p:spPr>
          <a:xfrm>
            <a:off x="2643188" y="363577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SOC 2 Type 1 Certification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4714875" y="2408839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Q3 2026</a:t>
            </a:r>
            <a:endParaRPr lang="en-US" sz="1193" dirty="0"/>
          </a:p>
        </p:txBody>
      </p:sp>
      <p:sp>
        <p:nvSpPr>
          <p:cNvPr id="19" name="Shape 15"/>
          <p:cNvSpPr/>
          <p:nvPr/>
        </p:nvSpPr>
        <p:spPr>
          <a:xfrm>
            <a:off x="4714875" y="2699947"/>
            <a:ext cx="772613" cy="192881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0" name="Text 16"/>
          <p:cNvSpPr/>
          <p:nvPr/>
        </p:nvSpPr>
        <p:spPr>
          <a:xfrm>
            <a:off x="4714875" y="2699947"/>
            <a:ext cx="772613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D4AA"/>
                </a:solidFill>
              </a:rPr>
              <a:t>Enterprise</a:t>
            </a:r>
            <a:endParaRPr lang="en-US" sz="683" dirty="0"/>
          </a:p>
        </p:txBody>
      </p:sp>
      <p:sp>
        <p:nvSpPr>
          <p:cNvPr id="21" name="Text 17"/>
          <p:cNvSpPr/>
          <p:nvPr/>
        </p:nvSpPr>
        <p:spPr>
          <a:xfrm>
            <a:off x="4714875" y="3064278"/>
            <a:ext cx="1785938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SSO &amp; On-premise Deployment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4714875" y="352147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Analytics Dashboard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4714875" y="380722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Reach 25 Paying Customers</a:t>
            </a:r>
            <a:endParaRPr lang="en-US" sz="834" dirty="0"/>
          </a:p>
        </p:txBody>
      </p:sp>
      <p:sp>
        <p:nvSpPr>
          <p:cNvPr id="24" name="Text 20"/>
          <p:cNvSpPr/>
          <p:nvPr/>
        </p:nvSpPr>
        <p:spPr>
          <a:xfrm>
            <a:off x="6786563" y="2408839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A2540"/>
                </a:solidFill>
              </a:rPr>
              <a:t>Q4 2026</a:t>
            </a:r>
            <a:endParaRPr lang="en-US" sz="1193" dirty="0"/>
          </a:p>
        </p:txBody>
      </p:sp>
      <p:sp>
        <p:nvSpPr>
          <p:cNvPr id="25" name="Shape 21"/>
          <p:cNvSpPr/>
          <p:nvPr/>
        </p:nvSpPr>
        <p:spPr>
          <a:xfrm>
            <a:off x="6786563" y="2699947"/>
            <a:ext cx="446456" cy="192881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6" name="Text 22"/>
          <p:cNvSpPr/>
          <p:nvPr/>
        </p:nvSpPr>
        <p:spPr>
          <a:xfrm>
            <a:off x="6786563" y="2699947"/>
            <a:ext cx="446456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00D4AA"/>
                </a:solidFill>
              </a:rPr>
              <a:t>Scale</a:t>
            </a:r>
            <a:endParaRPr lang="en-US" sz="683" dirty="0"/>
          </a:p>
        </p:txBody>
      </p:sp>
      <p:sp>
        <p:nvSpPr>
          <p:cNvPr id="27" name="Text 23"/>
          <p:cNvSpPr/>
          <p:nvPr/>
        </p:nvSpPr>
        <p:spPr>
          <a:xfrm>
            <a:off x="6786563" y="306427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High-volume Infrastructure</a:t>
            </a:r>
            <a:endParaRPr lang="en-US" sz="834" dirty="0"/>
          </a:p>
        </p:txBody>
      </p:sp>
      <p:sp>
        <p:nvSpPr>
          <p:cNvPr id="28" name="Text 24"/>
          <p:cNvSpPr/>
          <p:nvPr/>
        </p:nvSpPr>
        <p:spPr>
          <a:xfrm>
            <a:off x="6786563" y="335002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AI Policy Recommendations</a:t>
            </a:r>
            <a:endParaRPr lang="en-US" sz="834" dirty="0"/>
          </a:p>
        </p:txBody>
      </p:sp>
      <p:sp>
        <p:nvSpPr>
          <p:cNvPr id="29" name="Text 25"/>
          <p:cNvSpPr/>
          <p:nvPr/>
        </p:nvSpPr>
        <p:spPr>
          <a:xfrm>
            <a:off x="6786563" y="3635778"/>
            <a:ext cx="1785938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SOC 2 Type 2 &amp; ISO 27001</a:t>
            </a:r>
            <a:endParaRPr lang="en-US" sz="834" dirty="0"/>
          </a:p>
        </p:txBody>
      </p:sp>
      <p:sp>
        <p:nvSpPr>
          <p:cNvPr id="30" name="Shape 26"/>
          <p:cNvSpPr/>
          <p:nvPr/>
        </p:nvSpPr>
        <p:spPr>
          <a:xfrm>
            <a:off x="571500" y="4123730"/>
            <a:ext cx="8001000" cy="4482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571500" y="412373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8"/>
          <p:cNvSpPr/>
          <p:nvPr/>
        </p:nvSpPr>
        <p:spPr>
          <a:xfrm>
            <a:off x="571500" y="4123730"/>
            <a:ext cx="8001000" cy="448270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</a:rPr>
              <a:t>Strategic Focus: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 Balancing rapid feature iteration with the rigorous security certifications required by enterprise buyers.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243388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FFFFFF"/>
                </a:solidFill>
              </a:rPr>
              <a:t>Raising seed round to build the governance standard for agent mesh architectures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2194471"/>
            <a:ext cx="424338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218" b="1" spc="-3" kern="0" dirty="0">
                <a:solidFill>
                  <a:srgbClr val="00D4AA"/>
                </a:solidFill>
              </a:rPr>
              <a:t>$3M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571500" y="3137446"/>
            <a:ext cx="42433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CBD5E1"/>
                </a:solidFill>
              </a:rPr>
              <a:t>Establish MeshGuard as the category leader. Reach 25 paying customers and $1.2M ARR by Q4 2026.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71500" y="4045595"/>
            <a:ext cx="342900" cy="3429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4131320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0125" y="3916114"/>
            <a:ext cx="15854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David Hurley, Founder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000125" y="4139357"/>
            <a:ext cx="15854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D4AA"/>
                </a:solidFill>
              </a:rPr>
              <a:t>david@meshguard.app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1000125" y="4342954"/>
            <a:ext cx="15854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meshguard.app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5386388" y="571500"/>
            <a:ext cx="3186113" cy="434340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66404" y="1420713"/>
            <a:ext cx="2834646" cy="258961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94A3B8"/>
                </a:solidFill>
              </a:rPr>
              <a:t>Use of Funds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5566404" y="1793974"/>
            <a:ext cx="7600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Engineering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8025054" y="1793974"/>
            <a:ext cx="3759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D4AA"/>
                </a:solidFill>
              </a:rPr>
              <a:t>$1.5M</a:t>
            </a:r>
            <a:endParaRPr lang="en-US" sz="885" dirty="0"/>
          </a:p>
        </p:txBody>
      </p:sp>
      <p:sp>
        <p:nvSpPr>
          <p:cNvPr id="15" name="Shape 11"/>
          <p:cNvSpPr/>
          <p:nvPr/>
        </p:nvSpPr>
        <p:spPr>
          <a:xfrm>
            <a:off x="5566404" y="2026146"/>
            <a:ext cx="2834646" cy="57150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5566404" y="2140446"/>
            <a:ext cx="28346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Expand core team, enterprise features, security certs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5566404" y="2361902"/>
            <a:ext cx="8403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Go-to-Market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8023631" y="2361902"/>
            <a:ext cx="3774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D4AA"/>
                </a:solidFill>
              </a:rPr>
              <a:t>$800K</a:t>
            </a:r>
            <a:endParaRPr lang="en-US" sz="885" dirty="0"/>
          </a:p>
        </p:txBody>
      </p:sp>
      <p:sp>
        <p:nvSpPr>
          <p:cNvPr id="19" name="Shape 15"/>
          <p:cNvSpPr/>
          <p:nvPr/>
        </p:nvSpPr>
        <p:spPr>
          <a:xfrm>
            <a:off x="5566404" y="2594074"/>
            <a:ext cx="2834646" cy="57150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566404" y="2708374"/>
            <a:ext cx="28346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Sales leadership, partner program, events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5566404" y="2929830"/>
            <a:ext cx="69992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Operations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8023631" y="2929830"/>
            <a:ext cx="3774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D4AA"/>
                </a:solidFill>
              </a:rPr>
              <a:t>$500K</a:t>
            </a:r>
            <a:endParaRPr lang="en-US" sz="885" dirty="0"/>
          </a:p>
        </p:txBody>
      </p:sp>
      <p:sp>
        <p:nvSpPr>
          <p:cNvPr id="23" name="Shape 19"/>
          <p:cNvSpPr/>
          <p:nvPr/>
        </p:nvSpPr>
        <p:spPr>
          <a:xfrm>
            <a:off x="5566404" y="3162002"/>
            <a:ext cx="2834646" cy="57150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566404" y="3276302"/>
            <a:ext cx="28346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Infrastructure, legal, finance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5566404" y="3497759"/>
            <a:ext cx="7873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Contingency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8023631" y="3497759"/>
            <a:ext cx="3774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D4AA"/>
                </a:solidFill>
              </a:rPr>
              <a:t>$200K</a:t>
            </a:r>
            <a:endParaRPr lang="en-US" sz="885" dirty="0"/>
          </a:p>
        </p:txBody>
      </p:sp>
      <p:sp>
        <p:nvSpPr>
          <p:cNvPr id="27" name="Shape 23"/>
          <p:cNvSpPr/>
          <p:nvPr/>
        </p:nvSpPr>
        <p:spPr>
          <a:xfrm>
            <a:off x="5566404" y="3729930"/>
            <a:ext cx="2834646" cy="57150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5566404" y="3844230"/>
            <a:ext cx="28346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Strategic buffer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2026-01-24T15:46:57Z</dcterms:created>
  <dcterms:modified xsi:type="dcterms:W3CDTF">2026-01-24T15:46:57Z</dcterms:modified>
</cp:coreProperties>
</file>